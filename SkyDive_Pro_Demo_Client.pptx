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18872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37160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SkyDive Pro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731520" y="2514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montage de saut tandem, livré en 10 min.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31520" y="3108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Automatisation complète par IA : analyse vidéo, montage cinéma,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0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overlays brandés et livraison au passager. Zéro intervention manuelle.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" y="4206240"/>
            <a:ext cx="1645920" cy="320040"/>
          </a:xfrm>
          <a:prstGeom prst="rect">
            <a:avLst/>
          </a:prstGeom>
          <a:solidFill>
            <a:srgbClr val="16162B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4206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v0.1.0 — Démo live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1520" y="45902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Démonstration commerciale · Avril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problème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Vos vidéos tandem sont un goulot d'étranglement.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743200" cy="2926080"/>
          </a:xfrm>
          <a:prstGeom prst="rect">
            <a:avLst/>
          </a:prstGeom>
          <a:solidFill>
            <a:srgbClr val="F7F7FA"/>
          </a:solidFill>
          <a:ln w="12700">
            <a:solidFill>
              <a:srgbClr val="E2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00200"/>
            <a:ext cx="2743200" cy="7315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Temps perdu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27889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6B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20-40 min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731520" y="3566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post-production par saut. Sur 15 sauts/jour, c'est 5-10 heures consommées par le monteur.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37560" y="1600200"/>
            <a:ext cx="2743200" cy="2926080"/>
          </a:xfrm>
          <a:prstGeom prst="rect">
            <a:avLst/>
          </a:prstGeom>
          <a:solidFill>
            <a:srgbClr val="F7F7FA"/>
          </a:solidFill>
          <a:ln w="12700">
            <a:solidFill>
              <a:srgbClr val="E2E2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37560" y="1600200"/>
            <a:ext cx="2743200" cy="7315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82880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1188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Qualité variable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611880" y="27889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6B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~70%</a:t>
            </a:r>
            <a:endParaRPr lang="en-US" sz="4000" dirty="0"/>
          </a:p>
        </p:txBody>
      </p:sp>
      <p:sp>
        <p:nvSpPr>
          <p:cNvPr id="16" name="Text 12"/>
          <p:cNvSpPr/>
          <p:nvPr/>
        </p:nvSpPr>
        <p:spPr>
          <a:xfrm>
            <a:off x="3611880" y="3566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 montages sont jugés « moyens » par les passagers. Rendu inégal selon le monteur, les transitions, la musique.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217920" y="1600200"/>
            <a:ext cx="2743200" cy="2926080"/>
          </a:xfrm>
          <a:prstGeom prst="rect">
            <a:avLst/>
          </a:prstGeom>
          <a:solidFill>
            <a:srgbClr val="F7F7FA"/>
          </a:solidFill>
          <a:ln w="12700">
            <a:solidFill>
              <a:srgbClr val="E2E2EE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17920" y="1600200"/>
            <a:ext cx="2743200" cy="7315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828800"/>
            <a:ext cx="548640" cy="5486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9224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Coût caché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492240" y="27889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6B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8-15 €</a:t>
            </a:r>
            <a:endParaRPr lang="en-US" sz="4000" dirty="0"/>
          </a:p>
        </p:txBody>
      </p:sp>
      <p:sp>
        <p:nvSpPr>
          <p:cNvPr id="22" name="Text 17"/>
          <p:cNvSpPr/>
          <p:nvPr/>
        </p:nvSpPr>
        <p:spPr>
          <a:xfrm>
            <a:off x="6492240" y="3566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charge salariale par montage. Inutilisable pour concurrencer les dropzones premium qui proposent une livraison immédiate.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🪂 SkyDive Pro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795528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SOLUTION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57200" y="228600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Un logiciel qui transforme chaque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vidéo brute en montage pro, tout seul.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731520" y="39319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Vous déposez la vidéo GoPro. L'IA analyse, coupe, ajoute logo + nom du passager +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0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altitude + vitesse + musique, puis l'envoie par email. Vous ne touchez rien.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🪂 SkyDive Pro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95528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9 scènes. Détectées automatiquement.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L'IA reconnaît chaque moment clé du saut — sans aucune annotation manuelle.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743200" cy="914400"/>
          </a:xfrm>
          <a:prstGeom prst="rect">
            <a:avLst/>
          </a:prstGeom>
          <a:solidFill>
            <a:srgbClr val="F7F7FA"/>
          </a:solidFill>
          <a:ln w="12700">
            <a:solidFill>
              <a:srgbClr val="E2E2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🗣️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280160" y="15727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Briefing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Vision IA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463040"/>
            <a:ext cx="2743200" cy="914400"/>
          </a:xfrm>
          <a:prstGeom prst="rect">
            <a:avLst/>
          </a:prstGeom>
          <a:solidFill>
            <a:srgbClr val="F7F7FA"/>
          </a:solidFill>
          <a:ln w="12700">
            <a:solidFill>
              <a:srgbClr val="E2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🚐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160520" y="15727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Embarquement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6052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Vision IA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2743200" cy="914400"/>
          </a:xfrm>
          <a:prstGeom prst="rect">
            <a:avLst/>
          </a:prstGeom>
          <a:solidFill>
            <a:srgbClr val="F7F7FA"/>
          </a:solidFill>
          <a:ln w="12700">
            <a:solidFill>
              <a:srgbClr val="E2E2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✈️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040880" y="15727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Montée avion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4088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Audio (moteur)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514600"/>
            <a:ext cx="2743200" cy="914400"/>
          </a:xfrm>
          <a:prstGeom prst="rect">
            <a:avLst/>
          </a:prstGeom>
          <a:solidFill>
            <a:srgbClr val="F7F7FA"/>
          </a:solidFill>
          <a:ln w="12700">
            <a:solidFill>
              <a:srgbClr val="E2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🎢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280160" y="26243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Sortie avion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2971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Accéléromètre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37560" y="2514600"/>
            <a:ext cx="2743200" cy="914400"/>
          </a:xfrm>
          <a:prstGeom prst="rect">
            <a:avLst/>
          </a:prstGeom>
          <a:solidFill>
            <a:srgbClr val="F7F7FA"/>
          </a:solidFill>
          <a:ln w="12700">
            <a:solidFill>
              <a:srgbClr val="E2E2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🌬️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4160520" y="26243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Chute libre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160520" y="2971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Télémétrie 0G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2514600"/>
            <a:ext cx="2743200" cy="914400"/>
          </a:xfrm>
          <a:prstGeom prst="rect">
            <a:avLst/>
          </a:prstGeom>
          <a:solidFill>
            <a:srgbClr val="F7F7FA"/>
          </a:solidFill>
          <a:ln w="12700">
            <a:solidFill>
              <a:srgbClr val="E2E2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🪂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7040880" y="26243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Sous voile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40880" y="2971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Altitude GPS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566160"/>
            <a:ext cx="2743200" cy="914400"/>
          </a:xfrm>
          <a:prstGeom prst="rect">
            <a:avLst/>
          </a:prstGeom>
          <a:solidFill>
            <a:srgbClr val="F7F7FA"/>
          </a:solidFill>
          <a:ln w="12700">
            <a:solidFill>
              <a:srgbClr val="E2E2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703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🌍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1280160" y="36758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Atterrissage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80160" y="4023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Vitesse → 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37560" y="3566160"/>
            <a:ext cx="2743200" cy="914400"/>
          </a:xfrm>
          <a:prstGeom prst="rect">
            <a:avLst/>
          </a:prstGeom>
          <a:solidFill>
            <a:srgbClr val="F7F7FA"/>
          </a:solidFill>
          <a:ln w="12700">
            <a:solidFill>
              <a:srgbClr val="E2E2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0" y="3703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😃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4160520" y="36758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Réaction émotion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160520" y="4023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Reconnaissance faciale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17920" y="3566160"/>
            <a:ext cx="2743200" cy="914400"/>
          </a:xfrm>
          <a:prstGeom prst="rect">
            <a:avLst/>
          </a:prstGeom>
          <a:solidFill>
            <a:srgbClr val="F7F7FA"/>
          </a:solidFill>
          <a:ln w="12700">
            <a:solidFill>
              <a:srgbClr val="E2E2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3703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🤝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7040880" y="36758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Interaction moniteur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040880" y="4023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Détection pose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🪂 SkyDive Pro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95528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COMMENT ÇA MARCHE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Un pipeline IA en 5 étapes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502920" cy="50292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1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3317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74320" y="33832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vidéo ou lien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WeTransfer / Drive / YouTube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920240" y="2834640"/>
            <a:ext cx="182880" cy="0"/>
          </a:xfrm>
          <a:prstGeom prst="line">
            <a:avLst/>
          </a:prstGeom>
          <a:noFill/>
          <a:ln w="25400">
            <a:solidFill>
              <a:srgbClr val="FF6B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606040" y="1645920"/>
            <a:ext cx="502920" cy="50292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060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2</a:t>
            </a:r>
            <a:endParaRPr lang="en-US" sz="18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233172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5740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Télémétrie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057400" y="33832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GPS, altitude, vitesse,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accéléromètre extraits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703320" y="2834640"/>
            <a:ext cx="182880" cy="0"/>
          </a:xfrm>
          <a:prstGeom prst="line">
            <a:avLst/>
          </a:prstGeom>
          <a:noFill/>
          <a:ln w="25400">
            <a:solidFill>
              <a:srgbClr val="FF6B0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389120" y="1645920"/>
            <a:ext cx="502920" cy="50292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38912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3</a:t>
            </a:r>
            <a:endParaRPr lang="en-US" sz="18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331720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84048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Analyse IA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3840480" y="33832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Audio + Gemini Vision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reconnaissance de scènes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486400" y="2834640"/>
            <a:ext cx="182880" cy="0"/>
          </a:xfrm>
          <a:prstGeom prst="line">
            <a:avLst/>
          </a:prstGeom>
          <a:noFill/>
          <a:ln w="25400">
            <a:solidFill>
              <a:srgbClr val="FF6B0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172200" y="1645920"/>
            <a:ext cx="502920" cy="50292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17220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4</a:t>
            </a:r>
            <a:endParaRPr lang="en-US" sz="18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2331720"/>
            <a:ext cx="640080" cy="6400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62356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Montage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5623560" y="33832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Cuts, transitions, musique,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overlays brandés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7269480" y="2834640"/>
            <a:ext cx="182880" cy="0"/>
          </a:xfrm>
          <a:prstGeom prst="line">
            <a:avLst/>
          </a:prstGeom>
          <a:noFill/>
          <a:ln w="25400">
            <a:solidFill>
              <a:srgbClr val="FF6B00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955280" y="1645920"/>
            <a:ext cx="502920" cy="50292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795528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5</a:t>
            </a:r>
            <a:endParaRPr lang="en-US" sz="18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2331720"/>
            <a:ext cx="640080" cy="6400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40664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Livraison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7406640" y="33832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auto au passager,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lien Drive + QR code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solidFill>
            <a:srgbClr val="16162B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731520" y="4297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Temps total : </a:t>
            </a:r>
            <a:pPr algn="ctr" indent="0" marL="0">
              <a:buNone/>
            </a:pPr>
            <a:r>
              <a:rPr lang="en-US" sz="1400" b="1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à 10 min par saut</a:t>
            </a:r>
            <a:pPr algn="ctr" indent="0" marL="0">
              <a:buNone/>
            </a:pPr>
            <a:r>
              <a:rPr lang="en-US" sz="12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·    </a:t>
            </a:r>
            <a:pPr algn="ctr" indent="0" marL="0">
              <a:buNone/>
            </a:pPr>
            <a:r>
              <a:rPr lang="en-US" sz="1200" dirty="0">
                <a:solidFill>
                  <a:srgbClr val="A0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 IA utilisée : </a:t>
            </a:r>
            <a:pPr algn="ctr" indent="0" marL="0">
              <a:buNone/>
            </a:pPr>
            <a:r>
              <a:rPr lang="en-US" sz="1400" b="1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hybride gratuite (Gemini Flash + modèles locaux)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🪂 SkyDive Pro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795528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Démo live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Dashboard — vue staff dropzone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645920" cy="3017520"/>
          </a:xfrm>
          <a:prstGeom prst="rect">
            <a:avLst/>
          </a:prstGeom>
          <a:solidFill>
            <a:srgbClr val="0B0B13"/>
          </a:solidFill>
          <a:ln w="12700">
            <a:solidFill>
              <a:srgbClr val="0B0B1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087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508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SkyDive Pro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2920" y="1920240"/>
            <a:ext cx="1554480" cy="256032"/>
          </a:xfrm>
          <a:prstGeom prst="rect">
            <a:avLst/>
          </a:prstGeom>
          <a:solidFill>
            <a:srgbClr val="1E1E38"/>
          </a:solidFill>
          <a:ln w="12700">
            <a:solidFill>
              <a:srgbClr val="1E1E3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1920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" y="22402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Nouveau saut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0080" y="2560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Passagers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40080" y="28803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Montages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40080" y="32004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Statistiques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40080" y="35204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Branding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28600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Bonjour 👋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28600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Aperçu de la journée en dropzone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858000" y="1463040"/>
            <a:ext cx="1828800" cy="41148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0" y="1463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Nouveau saut tandem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286000" y="2103120"/>
            <a:ext cx="1371600" cy="914400"/>
          </a:xfrm>
          <a:prstGeom prst="rect">
            <a:avLst/>
          </a:prstGeom>
          <a:solidFill>
            <a:srgbClr val="F7F7FA"/>
          </a:solidFill>
          <a:ln w="12700">
            <a:solidFill>
              <a:srgbClr val="E2E2E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286000" y="2103120"/>
            <a:ext cx="1371600" cy="4572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377440" y="2194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SAUTS AUJ.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2377440" y="24231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12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3749040" y="2103120"/>
            <a:ext cx="1371600" cy="914400"/>
          </a:xfrm>
          <a:prstGeom prst="rect">
            <a:avLst/>
          </a:prstGeom>
          <a:solidFill>
            <a:srgbClr val="F7F7FA"/>
          </a:solidFill>
          <a:ln w="12700">
            <a:solidFill>
              <a:srgbClr val="E2E2E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749040" y="2103120"/>
            <a:ext cx="1371600" cy="4572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40480" y="2194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LIVRÉS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3840480" y="24231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9</a:t>
            </a:r>
            <a:endParaRPr lang="en-US" sz="2400" dirty="0"/>
          </a:p>
        </p:txBody>
      </p:sp>
      <p:sp>
        <p:nvSpPr>
          <p:cNvPr id="27" name="Shape 24"/>
          <p:cNvSpPr/>
          <p:nvPr/>
        </p:nvSpPr>
        <p:spPr>
          <a:xfrm>
            <a:off x="5212080" y="2103120"/>
            <a:ext cx="1371600" cy="914400"/>
          </a:xfrm>
          <a:prstGeom prst="rect">
            <a:avLst/>
          </a:prstGeom>
          <a:solidFill>
            <a:srgbClr val="F7F7FA"/>
          </a:solidFill>
          <a:ln w="12700">
            <a:solidFill>
              <a:srgbClr val="E2E2E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212080" y="2103120"/>
            <a:ext cx="1371600" cy="4572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303520" y="2194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COURS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5303520" y="24231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3</a:t>
            </a:r>
            <a:endParaRPr lang="en-US" sz="2400" dirty="0"/>
          </a:p>
        </p:txBody>
      </p:sp>
      <p:sp>
        <p:nvSpPr>
          <p:cNvPr id="31" name="Shape 28"/>
          <p:cNvSpPr/>
          <p:nvPr/>
        </p:nvSpPr>
        <p:spPr>
          <a:xfrm>
            <a:off x="6675120" y="2103120"/>
            <a:ext cx="1371600" cy="914400"/>
          </a:xfrm>
          <a:prstGeom prst="rect">
            <a:avLst/>
          </a:prstGeom>
          <a:solidFill>
            <a:srgbClr val="F7F7FA"/>
          </a:solidFill>
          <a:ln w="12700">
            <a:solidFill>
              <a:srgbClr val="E2E2EE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675120" y="2103120"/>
            <a:ext cx="1371600" cy="4572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766560" y="2194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COÛT API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6766560" y="24231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6B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2,40€</a:t>
            </a:r>
            <a:endParaRPr lang="en-US" sz="2400" dirty="0"/>
          </a:p>
        </p:txBody>
      </p:sp>
      <p:sp>
        <p:nvSpPr>
          <p:cNvPr id="35" name="Shape 32"/>
          <p:cNvSpPr/>
          <p:nvPr/>
        </p:nvSpPr>
        <p:spPr>
          <a:xfrm>
            <a:off x="2286000" y="3200400"/>
            <a:ext cx="6400800" cy="347472"/>
          </a:xfrm>
          <a:prstGeom prst="rect">
            <a:avLst/>
          </a:prstGeom>
          <a:solidFill>
            <a:srgbClr val="F7F7FA"/>
          </a:solidFill>
          <a:ln w="12700">
            <a:solidFill>
              <a:srgbClr val="E2E2EE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377440" y="3236976"/>
            <a:ext cx="274320" cy="27432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377440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M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2743200" y="322783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Marie Dubois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2743200" y="3383280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🕐 10:48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7589520" y="3246120"/>
            <a:ext cx="914400" cy="256032"/>
          </a:xfrm>
          <a:prstGeom prst="rect">
            <a:avLst/>
          </a:prstGeom>
          <a:solidFill>
            <a:srgbClr val="00D97E"/>
          </a:solidFill>
          <a:ln w="12700">
            <a:solidFill>
              <a:srgbClr val="00D97E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589520" y="32461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Livré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2286000" y="3611880"/>
            <a:ext cx="6400800" cy="347472"/>
          </a:xfrm>
          <a:prstGeom prst="rect">
            <a:avLst/>
          </a:prstGeom>
          <a:solidFill>
            <a:srgbClr val="F7F7FA"/>
          </a:solidFill>
          <a:ln w="12700">
            <a:solidFill>
              <a:srgbClr val="E2E2EE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377440" y="3648456"/>
            <a:ext cx="274320" cy="27432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2377440" y="3648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P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2743200" y="363931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Paul Martin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2743200" y="3794760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🕐 11:15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7589520" y="3657600"/>
            <a:ext cx="914400" cy="256032"/>
          </a:xfrm>
          <a:prstGeom prst="rect">
            <a:avLst/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589520" y="3657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72% IA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2286000" y="4023360"/>
            <a:ext cx="6400800" cy="347472"/>
          </a:xfrm>
          <a:prstGeom prst="rect">
            <a:avLst/>
          </a:prstGeom>
          <a:solidFill>
            <a:srgbClr val="F7F7FA"/>
          </a:solidFill>
          <a:ln w="12700">
            <a:solidFill>
              <a:srgbClr val="E2E2EE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2377440" y="4059936"/>
            <a:ext cx="274320" cy="27432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2377440" y="4059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S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2743200" y="405079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Sarah Leroy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2743200" y="4206240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🕐 11:20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7589520" y="4069080"/>
            <a:ext cx="914400" cy="256032"/>
          </a:xfrm>
          <a:prstGeom prst="rect">
            <a:avLst/>
          </a:prstGeom>
          <a:solidFill>
            <a:srgbClr val="FFB547"/>
          </a:solidFill>
          <a:ln w="12700">
            <a:solidFill>
              <a:srgbClr val="FFB547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589520" y="4069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15%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🪂 SkyDive Pro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795528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TÉLÉMÉTRIE GOPRO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Les chiffres du saut, lus directement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dans la vidéo brute.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2743200" cy="2194560"/>
          </a:xfrm>
          <a:prstGeom prst="rect">
            <a:avLst/>
          </a:prstGeom>
          <a:solidFill>
            <a:srgbClr val="16162B"/>
          </a:solidFill>
          <a:ln w="12700">
            <a:solidFill>
              <a:srgbClr val="FF6B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24688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1089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6B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4 050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548640" y="3886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4160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Altitude max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37560" y="2286000"/>
            <a:ext cx="2743200" cy="2194560"/>
          </a:xfrm>
          <a:prstGeom prst="rect">
            <a:avLst/>
          </a:prstGeom>
          <a:solidFill>
            <a:srgbClr val="16162B"/>
          </a:solidFill>
          <a:ln w="12700">
            <a:solidFill>
              <a:srgbClr val="FF6B0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46888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29000" y="31089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6B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212</a:t>
            </a:r>
            <a:endParaRPr lang="en-US" sz="5600" dirty="0"/>
          </a:p>
        </p:txBody>
      </p:sp>
      <p:sp>
        <p:nvSpPr>
          <p:cNvPr id="12" name="Text 8"/>
          <p:cNvSpPr/>
          <p:nvPr/>
        </p:nvSpPr>
        <p:spPr>
          <a:xfrm>
            <a:off x="3429000" y="3886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km/h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429000" y="4160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Vitesse max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17920" y="2286000"/>
            <a:ext cx="2743200" cy="2194560"/>
          </a:xfrm>
          <a:prstGeom prst="rect">
            <a:avLst/>
          </a:prstGeom>
          <a:solidFill>
            <a:srgbClr val="16162B"/>
          </a:solidFill>
          <a:ln w="12700">
            <a:solidFill>
              <a:srgbClr val="FF6B0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46888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09360" y="31089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6B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58</a:t>
            </a:r>
            <a:endParaRPr lang="en-US" sz="5600" dirty="0"/>
          </a:p>
        </p:txBody>
      </p:sp>
      <p:sp>
        <p:nvSpPr>
          <p:cNvPr id="17" name="Text 12"/>
          <p:cNvSpPr/>
          <p:nvPr/>
        </p:nvSpPr>
        <p:spPr>
          <a:xfrm>
            <a:off x="6309360" y="3886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secondes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09360" y="4160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Chute libre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0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Ces données s'affichent sur la vidéo finale du passager — sans saisie manuelle.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🪂 SkyDive Pro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795528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Bénéfices pour votre dropzone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 que vous gagnez concrètement, chaque jour.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97480" cy="1417320"/>
          </a:xfrm>
          <a:prstGeom prst="rect">
            <a:avLst/>
          </a:prstGeom>
          <a:solidFill>
            <a:srgbClr val="F7F7FA"/>
          </a:solidFill>
          <a:ln w="12700">
            <a:solidFill>
              <a:srgbClr val="E2E2E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463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−30 min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9728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 saut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2148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Post-production auto. Le monteur se concentre sur le client en face de lui.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91840" y="1325880"/>
            <a:ext cx="2697480" cy="1417320"/>
          </a:xfrm>
          <a:prstGeom prst="rect">
            <a:avLst/>
          </a:prstGeom>
          <a:solidFill>
            <a:srgbClr val="F7F7FA"/>
          </a:solidFill>
          <a:ln w="12700">
            <a:solidFill>
              <a:srgbClr val="E2E2E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5087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31920" y="1463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10 à 30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393192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sauts/jour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474720" y="2148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Tient la charge sans embaucher. L'été ne devient plus un enfer.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126480" y="1325880"/>
            <a:ext cx="2697480" cy="1417320"/>
          </a:xfrm>
          <a:prstGeom prst="rect">
            <a:avLst/>
          </a:prstGeom>
          <a:solidFill>
            <a:srgbClr val="F7F7FA"/>
          </a:solidFill>
          <a:ln w="12700">
            <a:solidFill>
              <a:srgbClr val="E2E2E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087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1463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&lt;10 min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676656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livraison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6309360" y="2148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passager reçoit sa vidéo avant de quitter la dropzone.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57200" y="2926080"/>
            <a:ext cx="2697480" cy="1417320"/>
          </a:xfrm>
          <a:prstGeom prst="rect">
            <a:avLst/>
          </a:prstGeom>
          <a:solidFill>
            <a:srgbClr val="F7F7FA"/>
          </a:solidFill>
          <a:ln w="12700">
            <a:solidFill>
              <a:srgbClr val="E2E2E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0896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97280" y="3063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+40%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1097280" y="3429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qualité perçue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640080" y="3749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Rendu cinéma cohérent. Overlays pro. Musique synchronisée.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3291840" y="2926080"/>
            <a:ext cx="2697480" cy="1417320"/>
          </a:xfrm>
          <a:prstGeom prst="rect">
            <a:avLst/>
          </a:prstGeom>
          <a:solidFill>
            <a:srgbClr val="F7F7FA"/>
          </a:solidFill>
          <a:ln w="12700">
            <a:solidFill>
              <a:srgbClr val="E2E2EE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310896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31920" y="3063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+25%</a:t>
            </a:r>
            <a:endParaRPr lang="en-US" sz="2200" dirty="0"/>
          </a:p>
        </p:txBody>
      </p:sp>
      <p:sp>
        <p:nvSpPr>
          <p:cNvPr id="28" name="Text 21"/>
          <p:cNvSpPr/>
          <p:nvPr/>
        </p:nvSpPr>
        <p:spPr>
          <a:xfrm>
            <a:off x="3931920" y="3429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avis 5 étoiles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3474720" y="3749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Estimation prudente. Un passager qui reçoit vite partage plus vite.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6126480" y="2926080"/>
            <a:ext cx="2697480" cy="1417320"/>
          </a:xfrm>
          <a:prstGeom prst="rect">
            <a:avLst/>
          </a:prstGeom>
          <a:solidFill>
            <a:srgbClr val="F7F7FA"/>
          </a:solidFill>
          <a:ln w="12700">
            <a:solidFill>
              <a:srgbClr val="E2E2EE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10896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66560" y="3063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8-15 €</a:t>
            </a:r>
            <a:endParaRPr lang="en-US" sz="2200" dirty="0"/>
          </a:p>
        </p:txBody>
      </p:sp>
      <p:sp>
        <p:nvSpPr>
          <p:cNvPr id="33" name="Text 25"/>
          <p:cNvSpPr/>
          <p:nvPr/>
        </p:nvSpPr>
        <p:spPr>
          <a:xfrm>
            <a:off x="6766560" y="3429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économisés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6309360" y="3749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 saut vs un monteur humain. À 20 sauts/jour, 240 €/jour de marge.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🪂 SkyDive Pro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795528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AVANT / APRÈS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Votre journée-type, transformée.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931920" cy="3017520"/>
          </a:xfrm>
          <a:prstGeom prst="rect">
            <a:avLst/>
          </a:prstGeom>
          <a:solidFill>
            <a:srgbClr val="1A1A24"/>
          </a:solidFill>
          <a:ln w="12700">
            <a:solidFill>
              <a:srgbClr val="3A151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47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Traitement manuel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A0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Download caméra → disque dur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A0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Premiere / DaVinci ouvert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A0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Cut à la main : 30-40 min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A0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Transitions, musique, export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A0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Upload WeTransfer → email manuel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A0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Client attend 24-72 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554480"/>
            <a:ext cx="3931920" cy="3017520"/>
          </a:xfrm>
          <a:prstGeom prst="rect">
            <a:avLst/>
          </a:prstGeom>
          <a:solidFill>
            <a:srgbClr val="16162B"/>
          </a:solidFill>
          <a:ln w="25400">
            <a:solidFill>
              <a:srgbClr val="FF6B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691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APRÈS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2011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SkyDive Pro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246888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Glisser-déposer fichier dans dashboard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Pipeline IA démarre tout seul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Analyse + montage : 5-10 min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Stats, overlays, musique auto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Email envoyé automatiquement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Client reçoit sa vidéo &lt; 10 min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🪂 SkyDive Pro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95528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Tarification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Un modèle simple. Rentable dès le 1er saut.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3108960"/>
          </a:xfrm>
          <a:prstGeom prst="rect">
            <a:avLst/>
          </a:prstGeom>
          <a:solidFill>
            <a:srgbClr val="F7F7FA"/>
          </a:solidFill>
          <a:ln w="12700">
            <a:solidFill>
              <a:srgbClr val="E2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3931920" cy="7315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45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CHARGES MENSUELLES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Licence SkyDive Pro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08960" y="2057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à définir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404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Gemini Vision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08960" y="24048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0-5 €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7523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Workspace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08960" y="27523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15 €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0998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Musique (Epidemic)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08960" y="30998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15-30 €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4472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Stockage Drive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08960" y="34472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inclus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931920"/>
            <a:ext cx="3657600" cy="0"/>
          </a:xfrm>
          <a:prstGeom prst="line">
            <a:avLst/>
          </a:prstGeom>
          <a:noFill/>
          <a:ln w="12700">
            <a:solidFill>
              <a:srgbClr val="E2E2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TOTAL ~35-50 €/mois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754880" y="1463040"/>
            <a:ext cx="3931920" cy="3108960"/>
          </a:xfrm>
          <a:prstGeom prst="rect">
            <a:avLst/>
          </a:prstGeom>
          <a:solidFill>
            <a:srgbClr val="FF6B00">
              <a:alpha val="8000"/>
            </a:srgbClr>
          </a:solidFill>
          <a:ln w="25400">
            <a:solidFill>
              <a:srgbClr val="FF6B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1463040"/>
            <a:ext cx="3931920" cy="7315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645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 POTENTIEL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20116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2E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250-350 €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4937760" y="2743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 saut tandem vendu avec vidéo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3291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Rentabilité : dès 1 tandem / mois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37760" y="37490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À 15 sauts/jour sur 90 jours d'été,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ROI est instantané.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🪂 SkyDive Pro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5528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Ce qu'on livre et quand.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20040" cy="320040"/>
          </a:xfrm>
          <a:prstGeom prst="ellipse">
            <a:avLst/>
          </a:prstGeom>
          <a:solidFill>
            <a:srgbClr val="00D97E"/>
          </a:solidFill>
          <a:ln w="25400">
            <a:solidFill>
              <a:srgbClr val="00D9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95528" y="1874520"/>
            <a:ext cx="0" cy="292608"/>
          </a:xfrm>
          <a:prstGeom prst="line">
            <a:avLst/>
          </a:prstGeom>
          <a:noFill/>
          <a:ln w="25400">
            <a:solidFill>
              <a:srgbClr val="2A2A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508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Aujourd'hui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83464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IA validé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83464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Télémétrie · IA vision · Montage auto · Dashboard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212848"/>
            <a:ext cx="320040" cy="320040"/>
          </a:xfrm>
          <a:prstGeom prst="ellipse">
            <a:avLst/>
          </a:prstGeom>
          <a:solidFill>
            <a:srgbClr val="16162B"/>
          </a:solidFill>
          <a:ln w="25400">
            <a:solidFill>
              <a:srgbClr val="FF6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2128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00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" y="2532888"/>
            <a:ext cx="0" cy="292608"/>
          </a:xfrm>
          <a:prstGeom prst="line">
            <a:avLst/>
          </a:prstGeom>
          <a:noFill/>
          <a:ln w="25400">
            <a:solidFill>
              <a:srgbClr val="2A2A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21671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Semaine +1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34640" y="21671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Livraison automatique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34640" y="24414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auto · Drive upload · SMS + QR code optionnel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871216"/>
            <a:ext cx="320040" cy="320040"/>
          </a:xfrm>
          <a:prstGeom prst="ellipse">
            <a:avLst/>
          </a:prstGeom>
          <a:solidFill>
            <a:srgbClr val="16162B"/>
          </a:solidFill>
          <a:ln w="25400">
            <a:solidFill>
              <a:srgbClr val="FF6B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8712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00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5528" y="3191256"/>
            <a:ext cx="0" cy="292608"/>
          </a:xfrm>
          <a:prstGeom prst="line">
            <a:avLst/>
          </a:prstGeom>
          <a:noFill/>
          <a:ln w="25400">
            <a:solidFill>
              <a:srgbClr val="2A2A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28254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Semaine +2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34640" y="28254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Reconnaissance émotionnelle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834640" y="3099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Détection visages · Top moments · Interaction moniteur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3529584"/>
            <a:ext cx="320040" cy="320040"/>
          </a:xfrm>
          <a:prstGeom prst="ellipse">
            <a:avLst/>
          </a:prstGeom>
          <a:solidFill>
            <a:srgbClr val="16162B"/>
          </a:solidFill>
          <a:ln w="25400">
            <a:solidFill>
              <a:srgbClr val="FF6B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5295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00"/>
                </a:solidFill>
              </a:rPr>
              <a:t>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5528" y="3849624"/>
            <a:ext cx="0" cy="292608"/>
          </a:xfrm>
          <a:prstGeom prst="line">
            <a:avLst/>
          </a:prstGeom>
          <a:noFill/>
          <a:ln w="25400">
            <a:solidFill>
              <a:srgbClr val="2A2A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88720" y="348386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Semaine +3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834640" y="34838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complet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834640" y="3758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Historique passagers · Stats · Preview GIF · Auth staff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4187952"/>
            <a:ext cx="320040" cy="320040"/>
          </a:xfrm>
          <a:prstGeom prst="ellipse">
            <a:avLst/>
          </a:prstGeom>
          <a:solidFill>
            <a:srgbClr val="16162B"/>
          </a:solidFill>
          <a:ln w="25400">
            <a:solidFill>
              <a:srgbClr val="FF6B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1879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00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88720" y="41422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Semaine +4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834640" y="41422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Déploiement production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834640" y="44165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Windows · Backup auto · Monitoring · Formation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🪂 SkyDive Pro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95528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Impact attendu sur votre saison été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Projection basée sur un trafic type de 15 tandems/jour × 90 jours.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566160" cy="1417320"/>
          </a:xfrm>
          <a:prstGeom prst="rect">
            <a:avLst/>
          </a:prstGeom>
          <a:solidFill>
            <a:srgbClr val="F7F7FA"/>
          </a:solidFill>
          <a:ln w="19050">
            <a:solidFill>
              <a:srgbClr val="FF6B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00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6B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1 350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montages livrés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514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automatisés, sans surcharge équipe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3566160" cy="1417320"/>
          </a:xfrm>
          <a:prstGeom prst="rect">
            <a:avLst/>
          </a:prstGeom>
          <a:solidFill>
            <a:srgbClr val="F7F7FA"/>
          </a:solidFill>
          <a:ln w="19050">
            <a:solidFill>
              <a:srgbClr val="FF6B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600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6B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~450 h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846320" y="2240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économisées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2514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équivalent à 3 mois d'un temps plein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063240"/>
            <a:ext cx="3566160" cy="1417320"/>
          </a:xfrm>
          <a:prstGeom prst="rect">
            <a:avLst/>
          </a:prstGeom>
          <a:solidFill>
            <a:srgbClr val="F7F7FA"/>
          </a:solidFill>
          <a:ln w="19050">
            <a:solidFill>
              <a:srgbClr val="FF6B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2004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6B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~10 000 €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914400" y="3840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charges en moins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4114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un monteur humain (hors SkyDive Pro)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3063240"/>
            <a:ext cx="3566160" cy="1417320"/>
          </a:xfrm>
          <a:prstGeom prst="rect">
            <a:avLst/>
          </a:prstGeom>
          <a:solidFill>
            <a:srgbClr val="F7F7FA"/>
          </a:solidFill>
          <a:ln w="19050">
            <a:solidFill>
              <a:srgbClr val="FF6B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2004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6B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&lt; 10 min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4846320" y="3840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délai moyen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4114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client repart avec sa vidéo en poche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🪂 SkyDive Pro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95528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B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371600"/>
            <a:ext cx="2103120" cy="21031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400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F6B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 MAINTENANT ?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57200" y="105156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On teste ensemble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sur votre vidéo.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457200" y="2852928"/>
            <a:ext cx="365760" cy="36576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2852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6012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Vous m'envoyez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108960" y="2880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vidéo tandem de votre choix (WeTransfer, Drive, peu importe).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3355848"/>
            <a:ext cx="365760" cy="36576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3355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60120" y="3337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Je fais tourner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108960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pipeline IA sur votre vidéo réelle. Livrable dans l'heure.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3858768"/>
            <a:ext cx="365760" cy="365760"/>
          </a:xfrm>
          <a:prstGeom prst="ellipse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3858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60120" y="3840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regarde ensemble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108960" y="3886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Vous validez le rendu. On ajuste le branding à votre identité.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🪂  Prêt à livrer votre premier montage IA ce soir.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SkyDive Pro — Démo Client</dc:title>
  <dc:subject>PptxGenJS Presentation</dc:subject>
  <dc:creator>SkyDive Pro</dc:creator>
  <cp:lastModifiedBy>SkyDive Pro</cp:lastModifiedBy>
  <cp:revision>1</cp:revision>
  <dcterms:created xsi:type="dcterms:W3CDTF">2026-04-17T10:34:06Z</dcterms:created>
  <dcterms:modified xsi:type="dcterms:W3CDTF">2026-04-17T10:34:06Z</dcterms:modified>
</cp:coreProperties>
</file>